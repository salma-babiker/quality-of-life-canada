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itchFamily="2" charset="77"/>
      <p:regular r:id="rId12"/>
      <p:bold r:id="rId13"/>
      <p:italic r:id="rId14"/>
      <p:boldItalic r:id="rId15"/>
    </p:embeddedFont>
    <p:embeddedFont>
      <p:font typeface="Libre Baskerville" panose="02000000000000000000" pitchFamily="2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/>
    <p:restoredTop sz="96390"/>
  </p:normalViewPr>
  <p:slideViewPr>
    <p:cSldViewPr snapToGrid="0" snapToObjects="1">
      <p:cViewPr varScale="1">
        <p:scale>
          <a:sx n="88" d="100"/>
          <a:sy n="88" d="100"/>
        </p:scale>
        <p:origin x="192" y="6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56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7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160.statcan.gc.c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learn.microsoft.com/en-us/power-bi/" TargetMode="External"/><Relationship Id="rId5" Type="http://schemas.openxmlformats.org/officeDocument/2006/relationships/hyperlink" Target="https://iterationinsights.com" TargetMode="External"/><Relationship Id="rId4" Type="http://schemas.openxmlformats.org/officeDocument/2006/relationships/hyperlink" Target="https://www.statcan.gc.ca/en/developers/wds/user-gu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6353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Quality of Life in Canada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552950"/>
            <a:ext cx="6266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 Analytical Power BI Report | 2019–2023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2474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Salma Babiker 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April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933" y="926783"/>
            <a:ext cx="5654754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 &amp; Structure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26933" y="1645920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About This Report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126933" y="1980486"/>
            <a:ext cx="5004792" cy="974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sourced from </a:t>
            </a:r>
            <a:r>
              <a:rPr lang="en-US" sz="14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Canada Web Data Service (WDS) API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modeled and visualized in </a:t>
            </a:r>
            <a:r>
              <a:rPr lang="en-US" sz="14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Power BI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Covers five Quality of Life dimensions across all Canadian provinces from </a:t>
            </a:r>
            <a:r>
              <a:rPr lang="en-US" sz="14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2019 to 2023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06057" y="1645920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Report Structure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00774" y="1992987"/>
            <a:ext cx="15240" cy="2782491"/>
          </a:xfrm>
          <a:prstGeom prst="roundRect">
            <a:avLst>
              <a:gd name="adj" fmla="val 414442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722882" y="2154436"/>
            <a:ext cx="300752" cy="15240"/>
          </a:xfrm>
          <a:prstGeom prst="roundRect">
            <a:avLst>
              <a:gd name="adj" fmla="val 414442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52018" y="2105680"/>
            <a:ext cx="112752" cy="112752"/>
          </a:xfrm>
          <a:prstGeom prst="roundRect">
            <a:avLst>
              <a:gd name="adj" fmla="val 40549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06057" y="2044660"/>
            <a:ext cx="1900833" cy="46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2 — Summary Dashboard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06057" y="2614136"/>
            <a:ext cx="19008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KPIs &amp; cross-dimensional findings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993154" y="2955250"/>
            <a:ext cx="300752" cy="15240"/>
          </a:xfrm>
          <a:prstGeom prst="roundRect">
            <a:avLst>
              <a:gd name="adj" fmla="val 414442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52018" y="2906494"/>
            <a:ext cx="112752" cy="112752"/>
          </a:xfrm>
          <a:prstGeom prst="roundRect">
            <a:avLst>
              <a:gd name="adj" fmla="val 40549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09898" y="2845475"/>
            <a:ext cx="1900952" cy="46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Pages 3–7 — Dimension Reports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609898" y="3414951"/>
            <a:ext cx="190095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Society · Prosperity · Governance · Environment · Health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22882" y="3682246"/>
            <a:ext cx="300752" cy="15240"/>
          </a:xfrm>
          <a:prstGeom prst="roundRect">
            <a:avLst>
              <a:gd name="adj" fmla="val 414442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952018" y="3633490"/>
            <a:ext cx="112752" cy="112752"/>
          </a:xfrm>
          <a:prstGeom prst="roundRect">
            <a:avLst>
              <a:gd name="adj" fmla="val 40549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06057" y="3572470"/>
            <a:ext cx="1900833" cy="46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Page 8 — Conclusion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06057" y="4141946"/>
            <a:ext cx="19008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 &amp; policy implications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26933" y="4999792"/>
            <a:ext cx="2519362" cy="1101685"/>
          </a:xfrm>
          <a:prstGeom prst="roundRect">
            <a:avLst>
              <a:gd name="adj" fmla="val 57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4928" y="5157788"/>
            <a:ext cx="451128" cy="451128"/>
          </a:xfrm>
          <a:prstGeom prst="roundRect">
            <a:avLst>
              <a:gd name="adj" fmla="val 2026716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8992" y="5281851"/>
            <a:ext cx="203002" cy="2030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284928" y="5708571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Society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745950" y="4999792"/>
            <a:ext cx="2519362" cy="1101685"/>
          </a:xfrm>
          <a:prstGeom prst="roundRect">
            <a:avLst>
              <a:gd name="adj" fmla="val 57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903946" y="5157788"/>
            <a:ext cx="451128" cy="451128"/>
          </a:xfrm>
          <a:prstGeom prst="roundRect">
            <a:avLst>
              <a:gd name="adj" fmla="val 2026716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8009" y="5281851"/>
            <a:ext cx="203002" cy="20300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03946" y="5708571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Prosperity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7364968" y="4999792"/>
            <a:ext cx="2519362" cy="1101685"/>
          </a:xfrm>
          <a:prstGeom prst="roundRect">
            <a:avLst>
              <a:gd name="adj" fmla="val 57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7522964" y="5157788"/>
            <a:ext cx="451128" cy="451128"/>
          </a:xfrm>
          <a:prstGeom prst="roundRect">
            <a:avLst>
              <a:gd name="adj" fmla="val 2026716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7027" y="5281851"/>
            <a:ext cx="203002" cy="20300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522964" y="5708571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9983986" y="4999792"/>
            <a:ext cx="2519362" cy="1101685"/>
          </a:xfrm>
          <a:prstGeom prst="roundRect">
            <a:avLst>
              <a:gd name="adj" fmla="val 57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10141982" y="5157788"/>
            <a:ext cx="451128" cy="451128"/>
          </a:xfrm>
          <a:prstGeom prst="roundRect">
            <a:avLst>
              <a:gd name="adj" fmla="val 2026716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66045" y="5281851"/>
            <a:ext cx="203002" cy="20300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141982" y="5708571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Environment</a:t>
            </a:r>
            <a:endParaRPr lang="en-US" sz="1450" dirty="0"/>
          </a:p>
        </p:txBody>
      </p:sp>
      <p:sp>
        <p:nvSpPr>
          <p:cNvPr id="35" name="Shape 29"/>
          <p:cNvSpPr/>
          <p:nvPr/>
        </p:nvSpPr>
        <p:spPr>
          <a:xfrm>
            <a:off x="2126933" y="6201132"/>
            <a:ext cx="10376416" cy="1101685"/>
          </a:xfrm>
          <a:prstGeom prst="roundRect">
            <a:avLst>
              <a:gd name="adj" fmla="val 5733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2284928" y="6359128"/>
            <a:ext cx="451128" cy="451128"/>
          </a:xfrm>
          <a:prstGeom prst="roundRect">
            <a:avLst>
              <a:gd name="adj" fmla="val 2026716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8992" y="6483191"/>
            <a:ext cx="203002" cy="20300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284928" y="6909911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2846" y="869156"/>
            <a:ext cx="1763197" cy="269319"/>
          </a:xfrm>
          <a:prstGeom prst="roundRect">
            <a:avLst>
              <a:gd name="adj" fmla="val 1989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8453" y="939998"/>
            <a:ext cx="127516" cy="127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9667" y="916900"/>
            <a:ext cx="138076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 DASHBOARD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812846" y="1183243"/>
            <a:ext cx="11004590" cy="996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Uneven Progress: Growth Without Equal Gains in Well-being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812846" y="2427803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8.53M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2603421" y="311777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Aggregate Income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27715" y="2427803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61.5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6123861" y="3117771"/>
            <a:ext cx="2382441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 Life Expectancy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242584" y="2427803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139K</a:t>
            </a:r>
            <a:endParaRPr lang="en-US" sz="4100" dirty="0"/>
          </a:p>
        </p:txBody>
      </p:sp>
      <p:sp>
        <p:nvSpPr>
          <p:cNvPr id="11" name="Text 8"/>
          <p:cNvSpPr/>
          <p:nvPr/>
        </p:nvSpPr>
        <p:spPr>
          <a:xfrm>
            <a:off x="10033159" y="311777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Natural Areas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670221" y="3670697"/>
            <a:ext cx="3574733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144K</a:t>
            </a:r>
            <a:endParaRPr lang="en-US" sz="4100" dirty="0"/>
          </a:p>
        </p:txBody>
      </p:sp>
      <p:sp>
        <p:nvSpPr>
          <p:cNvPr id="13" name="Text 10"/>
          <p:cNvSpPr/>
          <p:nvPr/>
        </p:nvSpPr>
        <p:spPr>
          <a:xfrm>
            <a:off x="4460796" y="436066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Number of Persons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385090" y="3670697"/>
            <a:ext cx="3574852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141K</a:t>
            </a:r>
            <a:endParaRPr lang="en-US" sz="4100" dirty="0"/>
          </a:p>
        </p:txBody>
      </p:sp>
      <p:sp>
        <p:nvSpPr>
          <p:cNvPr id="15" name="Text 12"/>
          <p:cNvSpPr/>
          <p:nvPr/>
        </p:nvSpPr>
        <p:spPr>
          <a:xfrm>
            <a:off x="8071961" y="4360664"/>
            <a:ext cx="2200989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Number with Income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812846" y="484786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Findings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812846" y="5208984"/>
            <a:ext cx="5307687" cy="2112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persons grew from </a:t>
            </a: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27K (2019) to 31K (2023)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driven by immigration policy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Number_with_Income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closely tracks population — broad but unequal participation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Toronto (Ontario) + British Columbia = </a:t>
            </a: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48%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provincial population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Health-adjusted life expectancy </a:t>
            </a: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declining</a:t>
            </a: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pre-pandemic baseline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 income </a:t>
            </a:r>
            <a:r>
              <a:rPr lang="en-US" sz="12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concentrated in few provinces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02354" y="4735830"/>
            <a:ext cx="5537478" cy="2624614"/>
          </a:xfrm>
          <a:prstGeom prst="roundRect">
            <a:avLst>
              <a:gd name="adj" fmla="val 437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61778" y="484786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561778" y="5208984"/>
            <a:ext cx="5218628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"Despite rising aggregate income, median income and health outcomes lag behind — indicating </a:t>
            </a:r>
            <a:r>
              <a:rPr lang="en-US" sz="12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unequal wealth distribution</a:t>
            </a:r>
            <a:r>
              <a:rPr lang="en-US" sz="12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limited governance impact on overall quality of life."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914" y="772478"/>
            <a:ext cx="1051917" cy="331827"/>
          </a:xfrm>
          <a:prstGeom prst="roundRect">
            <a:avLst>
              <a:gd name="adj" fmla="val 19008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428" y="863322"/>
            <a:ext cx="150138" cy="150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6576" y="828675"/>
            <a:ext cx="601742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SOCIETY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38914" y="1166336"/>
            <a:ext cx="9138166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Society Growth &amp; Distribution Insight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838914" y="2079784"/>
            <a:ext cx="418802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2.63K</a:t>
            </a:r>
            <a:endParaRPr lang="en-US" sz="4850" dirty="0"/>
          </a:p>
        </p:txBody>
      </p:sp>
      <p:sp>
        <p:nvSpPr>
          <p:cNvPr id="7" name="Text 4"/>
          <p:cNvSpPr/>
          <p:nvPr/>
        </p:nvSpPr>
        <p:spPr>
          <a:xfrm>
            <a:off x="1548170" y="2909411"/>
            <a:ext cx="276939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Society Population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221129" y="2079784"/>
            <a:ext cx="418802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5.97K</a:t>
            </a:r>
            <a:endParaRPr lang="en-US" sz="4850" dirty="0"/>
          </a:p>
        </p:txBody>
      </p:sp>
      <p:sp>
        <p:nvSpPr>
          <p:cNvPr id="9" name="Text 6"/>
          <p:cNvSpPr/>
          <p:nvPr/>
        </p:nvSpPr>
        <p:spPr>
          <a:xfrm>
            <a:off x="6141839" y="2909411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 Society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3343" y="2079784"/>
            <a:ext cx="418802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677</a:t>
            </a:r>
            <a:endParaRPr lang="en-US" sz="4850" dirty="0"/>
          </a:p>
        </p:txBody>
      </p:sp>
      <p:sp>
        <p:nvSpPr>
          <p:cNvPr id="11" name="Text 8"/>
          <p:cNvSpPr/>
          <p:nvPr/>
        </p:nvSpPr>
        <p:spPr>
          <a:xfrm>
            <a:off x="10524053" y="2909411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Min Society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030022" y="3607118"/>
            <a:ext cx="418802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144K</a:t>
            </a:r>
            <a:endParaRPr lang="en-US" sz="4850" dirty="0"/>
          </a:p>
        </p:txBody>
      </p:sp>
      <p:sp>
        <p:nvSpPr>
          <p:cNvPr id="13" name="Text 10"/>
          <p:cNvSpPr/>
          <p:nvPr/>
        </p:nvSpPr>
        <p:spPr>
          <a:xfrm>
            <a:off x="3950732" y="4436745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Population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12236" y="3607118"/>
            <a:ext cx="418802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40K</a:t>
            </a:r>
            <a:endParaRPr lang="en-US" sz="4850" dirty="0"/>
          </a:p>
        </p:txBody>
      </p:sp>
      <p:sp>
        <p:nvSpPr>
          <p:cNvPr id="15" name="Text 12"/>
          <p:cNvSpPr/>
          <p:nvPr/>
        </p:nvSpPr>
        <p:spPr>
          <a:xfrm>
            <a:off x="8332946" y="4436745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Society Score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8914" y="5044440"/>
            <a:ext cx="6247328" cy="235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grew consistently </a:t>
            </a: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2019–2023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driven by federal immigration targets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Society growth rate rose from </a:t>
            </a: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1% (2020) to 4% (2023)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accelerating pressure on housing and services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slicer by Year, Province, and Age enables sub-population drill-down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 677 vs Max 5.97K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reveals deep regional inequality across provinces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416641" y="4904661"/>
            <a:ext cx="6517600" cy="2552462"/>
          </a:xfrm>
          <a:prstGeom prst="roundRect">
            <a:avLst>
              <a:gd name="adj" fmla="val 5295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04284" y="5059918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04284" y="5508427"/>
            <a:ext cx="6142315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"Positive growth trajectory alongside significant distribution disparity — </a:t>
            </a: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regional inequality</a:t>
            </a: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may require targeted social investment."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783312" cy="176689"/>
          </a:xfrm>
          <a:prstGeom prst="roundRect">
            <a:avLst>
              <a:gd name="adj" fmla="val 21567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511254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PROSPERITY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6584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 Capita Income by Province — 2019–2023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07150"/>
            <a:ext cx="387727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31M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632246" y="14805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Value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50562" y="1007150"/>
            <a:ext cx="387738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2M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580477" y="14805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 Value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02449" y="1827728"/>
            <a:ext cx="387727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673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4632246" y="230112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Min Value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50562" y="1827728"/>
            <a:ext cx="387738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90K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8462129" y="2301121"/>
            <a:ext cx="165425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Per Capita Income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02449" y="2541984"/>
            <a:ext cx="7825502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Ontario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all provinces in total income value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Per Capita Income line is relatively flat — income gap driven by </a:t>
            </a: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size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per-person earnings alone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 growth peaked at </a:t>
            </a: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5.4% in 2020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(CERB pandemic transfers), dropped to </a:t>
            </a: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0.6% in 2022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due to inflation, partially recovering to </a:t>
            </a: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2.3% in 2023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49" y="3189565"/>
            <a:ext cx="7825740" cy="444831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5079" y="5457532"/>
            <a:ext cx="221869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5303290" y="3196305"/>
            <a:ext cx="221868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5.4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7196674" y="4703790"/>
            <a:ext cx="221868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3.2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9084885" y="6485362"/>
            <a:ext cx="221868" cy="195644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0.6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10973096" y="5320488"/>
            <a:ext cx="221869" cy="195643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2.3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3402449" y="7635478"/>
            <a:ext cx="7825502" cy="464820"/>
          </a:xfrm>
          <a:prstGeom prst="roundRect">
            <a:avLst>
              <a:gd name="adj" fmla="val 10248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797" y="7777163"/>
            <a:ext cx="141684" cy="1133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70828" y="7720489"/>
            <a:ext cx="734377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"Ontario leads in per capita income. Total values rising steadily, but growth rate declining since 2020 — </a:t>
            </a:r>
            <a:r>
              <a:rPr lang="en-US" sz="8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purchasing power</a:t>
            </a: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needs continued monitoring."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9683" y="1319808"/>
            <a:ext cx="1353145" cy="303728"/>
          </a:xfrm>
          <a:prstGeom prst="roundRect">
            <a:avLst>
              <a:gd name="adj" fmla="val 19385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4815" y="1401604"/>
            <a:ext cx="140137" cy="140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4960" y="1372314"/>
            <a:ext cx="932736" cy="198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69683" y="1677591"/>
            <a:ext cx="10572393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Race &amp; Ethnicity Dominate Hate Crime Trends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269683" y="2515553"/>
            <a:ext cx="3917513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9K</a:t>
            </a:r>
            <a:endParaRPr lang="en-US" sz="4550" dirty="0"/>
          </a:p>
        </p:txBody>
      </p:sp>
      <p:sp>
        <p:nvSpPr>
          <p:cNvPr id="7" name="Text 4"/>
          <p:cNvSpPr/>
          <p:nvPr/>
        </p:nvSpPr>
        <p:spPr>
          <a:xfrm>
            <a:off x="2133243" y="3282672"/>
            <a:ext cx="2190393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Cases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56384" y="2515553"/>
            <a:ext cx="3917513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2K</a:t>
            </a:r>
            <a:endParaRPr lang="en-US" sz="4550" dirty="0"/>
          </a:p>
        </p:txBody>
      </p:sp>
      <p:sp>
        <p:nvSpPr>
          <p:cNvPr id="9" name="Text 6"/>
          <p:cNvSpPr/>
          <p:nvPr/>
        </p:nvSpPr>
        <p:spPr>
          <a:xfrm>
            <a:off x="6219944" y="3282672"/>
            <a:ext cx="2190393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Race/Ethnicity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443085" y="2515553"/>
            <a:ext cx="3917513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962</a:t>
            </a:r>
            <a:endParaRPr lang="en-US" sz="4550" dirty="0"/>
          </a:p>
        </p:txBody>
      </p:sp>
      <p:sp>
        <p:nvSpPr>
          <p:cNvPr id="11" name="Text 8"/>
          <p:cNvSpPr/>
          <p:nvPr/>
        </p:nvSpPr>
        <p:spPr>
          <a:xfrm>
            <a:off x="10306645" y="3282672"/>
            <a:ext cx="2190393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Religion-Motivated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313033" y="3914656"/>
            <a:ext cx="3917513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559</a:t>
            </a:r>
            <a:endParaRPr lang="en-US" sz="4550" dirty="0"/>
          </a:p>
        </p:txBody>
      </p:sp>
      <p:sp>
        <p:nvSpPr>
          <p:cNvPr id="13" name="Text 10"/>
          <p:cNvSpPr/>
          <p:nvPr/>
        </p:nvSpPr>
        <p:spPr>
          <a:xfrm>
            <a:off x="4176593" y="4681776"/>
            <a:ext cx="2190393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Sexual Orientation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399734" y="3914656"/>
            <a:ext cx="3917513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50"/>
              </a:lnSpc>
              <a:buNone/>
            </a:pPr>
            <a:r>
              <a:rPr lang="en-US" sz="4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60</a:t>
            </a:r>
            <a:endParaRPr lang="en-US" sz="4550" dirty="0"/>
          </a:p>
        </p:txBody>
      </p:sp>
      <p:sp>
        <p:nvSpPr>
          <p:cNvPr id="15" name="Text 12"/>
          <p:cNvSpPr/>
          <p:nvPr/>
        </p:nvSpPr>
        <p:spPr>
          <a:xfrm>
            <a:off x="8195429" y="4681776"/>
            <a:ext cx="232600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Language-Motivated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69683" y="5229701"/>
            <a:ext cx="5831681" cy="163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Race/Ethnicity</a:t>
            </a: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dominant hate crime motivation across all target groups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Religion is the </a:t>
            </a:r>
            <a:r>
              <a:rPr lang="en-US" sz="13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second-most prevalent</a:t>
            </a: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motivation province-wide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Targets include: Age groups, Immigrants &amp; Newcomers, Language communities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quarterly and year-to-date data confirm a </a:t>
            </a:r>
            <a:r>
              <a:rPr lang="en-US" sz="13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pattern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410212" y="5107900"/>
            <a:ext cx="6084094" cy="1801773"/>
          </a:xfrm>
          <a:prstGeom prst="roundRect">
            <a:avLst>
              <a:gd name="adj" fmla="val 7002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585353" y="5243155"/>
            <a:ext cx="2190393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585353" y="5652254"/>
            <a:ext cx="5733812" cy="74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"Race/Ethnicity-motivated hate crimes account for the </a:t>
            </a: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share (~9K cases)</a:t>
            </a: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pattern is consistent across all target groups — signaling urgent need for </a:t>
            </a: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anti-discrimination policy</a:t>
            </a: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311825"/>
            <a:ext cx="895112" cy="176689"/>
          </a:xfrm>
          <a:prstGeom prst="roundRect">
            <a:avLst>
              <a:gd name="adj" fmla="val 21567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0434" y="354806"/>
            <a:ext cx="90726" cy="90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06522" y="345758"/>
            <a:ext cx="623054" cy="108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402449" y="511135"/>
            <a:ext cx="77731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Environmental Conditions &amp; Human Impact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2449" y="1007150"/>
            <a:ext cx="387727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4.54K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632246" y="14805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Patch Size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50562" y="1007150"/>
            <a:ext cx="387738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16.52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116372" y="1480542"/>
            <a:ext cx="234576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Human Landscape Modification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02449" y="1827728"/>
            <a:ext cx="3877270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139K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4632246" y="230112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Natural Areas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50562" y="1827728"/>
            <a:ext cx="3877389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46.64K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8580477" y="230112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Overall Env. Score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02449" y="2541984"/>
            <a:ext cx="782550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Prairies ecozone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highest human modification score (~50)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Mixedwood Plains and Atlantic Maritime are most heavily farmed and urbanized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Arctic ecozones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show near-zero modification — remote and undisturbed</a:t>
            </a:r>
            <a:endParaRPr lang="en-US" sz="85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</a:t>
            </a:r>
            <a:r>
              <a:rPr lang="en-US" sz="8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negative correlation</a:t>
            </a: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higher modification → lower environment score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3209330"/>
            <a:ext cx="7825502" cy="4367689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449" y="3209330"/>
            <a:ext cx="7825502" cy="436768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402449" y="7640717"/>
            <a:ext cx="7825502" cy="464820"/>
          </a:xfrm>
          <a:prstGeom prst="roundRect">
            <a:avLst>
              <a:gd name="adj" fmla="val 10248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5797" y="7782401"/>
            <a:ext cx="141684" cy="1133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70828" y="7725727"/>
            <a:ext cx="734377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"Higher human landscape modification is directly associated with </a:t>
            </a:r>
            <a:r>
              <a:rPr lang="en-US" sz="8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environmental quality</a:t>
            </a: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Prairie ecozones most at risk — Arctic regions pristine but face emerging climate-driven threats."</a:t>
            </a:r>
            <a:endParaRPr lang="en-US" sz="850" dirty="0"/>
          </a:p>
        </p:txBody>
      </p:sp>
      <p:pic>
        <p:nvPicPr>
          <p:cNvPr id="20" name="Audio Recording Apr 11, 2026 at 7:42:28 PM">
            <a:hlinkClick r:id="" action="ppaction://media"/>
            <a:extLst>
              <a:ext uri="{FF2B5EF4-FFF2-40B4-BE49-F238E27FC236}">
                <a16:creationId xmlns:a16="http://schemas.microsoft.com/office/drawing/2014/main" id="{10191CAF-3408-4B78-A8CF-6F19F63AF8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908800" y="37084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88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29351" y="1018937"/>
            <a:ext cx="743664" cy="232053"/>
          </a:xfrm>
          <a:prstGeom prst="roundRect">
            <a:avLst>
              <a:gd name="adj" fmla="val 20505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243" y="1078349"/>
            <a:ext cx="113228" cy="113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84026" y="1061323"/>
            <a:ext cx="404098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429351" y="1286351"/>
            <a:ext cx="9771578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Health-Adjusted Life Expectancy: Trends &amp; Disparities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2429351" y="2374702"/>
            <a:ext cx="3183493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61.48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35987" y="2978944"/>
            <a:ext cx="177010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HALE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23334" y="2374702"/>
            <a:ext cx="3183493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3.84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6429970" y="2978944"/>
            <a:ext cx="177010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 Gap (yrs)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017318" y="2374702"/>
            <a:ext cx="3183612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59.10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9724073" y="2978944"/>
            <a:ext cx="177010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Latest HALE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6343" y="3447693"/>
            <a:ext cx="3183493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63.23</a:t>
            </a:r>
            <a:endParaRPr lang="en-US" sz="3650" dirty="0"/>
          </a:p>
        </p:txBody>
      </p:sp>
      <p:sp>
        <p:nvSpPr>
          <p:cNvPr id="13" name="Text 10"/>
          <p:cNvSpPr/>
          <p:nvPr/>
        </p:nvSpPr>
        <p:spPr>
          <a:xfrm>
            <a:off x="4782979" y="4051935"/>
            <a:ext cx="177010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 Health Exp.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70326" y="3447693"/>
            <a:ext cx="3183493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59.39</a:t>
            </a:r>
            <a:endParaRPr lang="en-US" sz="3650" dirty="0"/>
          </a:p>
        </p:txBody>
      </p:sp>
      <p:sp>
        <p:nvSpPr>
          <p:cNvPr id="15" name="Text 12"/>
          <p:cNvSpPr/>
          <p:nvPr/>
        </p:nvSpPr>
        <p:spPr>
          <a:xfrm>
            <a:off x="8076962" y="4051935"/>
            <a:ext cx="177010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 Health Exp.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2429351" y="4471988"/>
            <a:ext cx="740970" cy="177535"/>
          </a:xfrm>
          <a:prstGeom prst="roundRect">
            <a:avLst>
              <a:gd name="adj" fmla="val 7210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902" y="4511426"/>
            <a:ext cx="98659" cy="9865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18448" y="4496652"/>
            <a:ext cx="494322" cy="128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 HALE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236094" y="4471988"/>
            <a:ext cx="850548" cy="177535"/>
          </a:xfrm>
          <a:prstGeom prst="roundRect">
            <a:avLst>
              <a:gd name="adj" fmla="val 7210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645" y="4511426"/>
            <a:ext cx="98659" cy="98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25190" y="4496652"/>
            <a:ext cx="603901" cy="128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5424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 HALE</a:t>
            </a:r>
            <a:endParaRPr lang="en-US" sz="7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351" y="4731738"/>
            <a:ext cx="6248400" cy="32886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413615" y="4720430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64.1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2413615" y="4872517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60.5</a:t>
            </a:r>
            <a:endParaRPr lang="en-US" sz="650" dirty="0"/>
          </a:p>
        </p:txBody>
      </p:sp>
      <p:sp>
        <p:nvSpPr>
          <p:cNvPr id="25" name="Text 19"/>
          <p:cNvSpPr/>
          <p:nvPr/>
        </p:nvSpPr>
        <p:spPr>
          <a:xfrm>
            <a:off x="3904810" y="4733104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63.8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3904810" y="4889415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60.1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5400091" y="4745778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63.5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5400091" y="4897865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59.9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6891286" y="4758452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63.2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6891286" y="4910538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59.6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8382482" y="4757185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63.2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8382482" y="4919410"/>
            <a:ext cx="228791" cy="15621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59.4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8906827" y="4452104"/>
            <a:ext cx="3301604" cy="1196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British Columbia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in HALE;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Manitoba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records the lowest values</a:t>
            </a:r>
            <a:endParaRPr lang="en-US" sz="11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provinces show a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declining HALE trend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2019–2023</a:t>
            </a:r>
            <a:endParaRPr lang="en-US" sz="11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Females outlive males in healthy years by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~3.84 years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consistently</a:t>
            </a:r>
            <a:endParaRPr lang="en-US" sz="11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Decline driven by: COVID-19 long-term effects, chronic disease, mental health burden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128233" y="6195654"/>
            <a:ext cx="3080197" cy="930359"/>
          </a:xfrm>
          <a:prstGeom prst="roundRect">
            <a:avLst>
              <a:gd name="adj" fmla="val 11020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7026" y="5937885"/>
            <a:ext cx="176927" cy="14156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301655" y="6337738"/>
            <a:ext cx="2765210" cy="8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"HALE is gradually declining across Canada. Provincial disparities correlate with socioeconomic and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environmental quality indicators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795" y="1057394"/>
            <a:ext cx="6143506" cy="517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Key Takeaways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600795" y="1816775"/>
            <a:ext cx="3729038" cy="2535436"/>
          </a:xfrm>
          <a:prstGeom prst="roundRect">
            <a:avLst>
              <a:gd name="adj" fmla="val 2744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23655" y="1839635"/>
            <a:ext cx="3683318" cy="496848"/>
          </a:xfrm>
          <a:prstGeom prst="roundRect">
            <a:avLst>
              <a:gd name="adj" fmla="val 84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41132" y="1928932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89271" y="2457331"/>
            <a:ext cx="2505194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Growth Without Equity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9271" y="2788563"/>
            <a:ext cx="3352086" cy="137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Canada's population and income have grown, but benefits are </a:t>
            </a: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unevenly distributed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provinces and demographics. Rising aggregates mask persistent gaps in median income and social services access.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50681" y="1816775"/>
            <a:ext cx="3729038" cy="2535436"/>
          </a:xfrm>
          <a:prstGeom prst="roundRect">
            <a:avLst>
              <a:gd name="adj" fmla="val 2744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73541" y="1839635"/>
            <a:ext cx="3683318" cy="496848"/>
          </a:xfrm>
          <a:prstGeom prst="roundRect">
            <a:avLst>
              <a:gd name="adj" fmla="val 84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91018" y="1928932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639157" y="2457331"/>
            <a:ext cx="2741295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Environmental Trade-Off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39157" y="2788563"/>
            <a:ext cx="3352086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 development zones show </a:t>
            </a: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measurably worse environmental quality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highlighting the real cost of urbanization and industrial activity on Canada's natural landscape.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00567" y="1816775"/>
            <a:ext cx="3729038" cy="2535436"/>
          </a:xfrm>
          <a:prstGeom prst="roundRect">
            <a:avLst>
              <a:gd name="adj" fmla="val 2744"/>
            </a:avLst>
          </a:prstGeom>
          <a:solidFill>
            <a:srgbClr val="FFFDFA"/>
          </a:solidFill>
          <a:ln w="2286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3427" y="1839635"/>
            <a:ext cx="3683318" cy="496848"/>
          </a:xfrm>
          <a:prstGeom prst="roundRect">
            <a:avLst>
              <a:gd name="adj" fmla="val 8480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0904" y="1928932"/>
            <a:ext cx="248364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489043" y="2457331"/>
            <a:ext cx="2738557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Declining Health Baseline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89043" y="2788563"/>
            <a:ext cx="3352086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HALE is falling across all provinces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signaling a health system under sustained post-pandemic pressure. Provincial disparities persist despite universal healthcare coverage.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00795" y="4570903"/>
            <a:ext cx="11428809" cy="28218"/>
          </a:xfrm>
          <a:prstGeom prst="rect">
            <a:avLst/>
          </a:prstGeom>
          <a:solidFill>
            <a:srgbClr val="4542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00795" y="4780359"/>
            <a:ext cx="2070378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795" y="5220414"/>
            <a:ext cx="11428809" cy="158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Canada. QoL Hub. </a:t>
            </a:r>
            <a:r>
              <a:rPr lang="en-US" sz="130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https://www160.statcan.gc.ca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Canada. WDS User Guide. </a:t>
            </a:r>
            <a:r>
              <a:rPr lang="en-US" sz="130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https://www.statcan.gc.ca/en/developers/wds/user-guide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Iteration Insights. How to Use Statistics Canada Data in Power BI. </a:t>
            </a:r>
            <a:r>
              <a:rPr lang="en-US" sz="130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https://iterationinsights.com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Microsoft. Power BI Documentation. </a:t>
            </a:r>
            <a:r>
              <a:rPr lang="en-US" sz="1300" u="sng" dirty="0">
                <a:solidFill>
                  <a:srgbClr val="AB842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https://learn.microsoft.com/en-us/power-bi/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Few, S. (2012). </a:t>
            </a:r>
            <a:r>
              <a:rPr lang="en-US" sz="13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Me the Numbers.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Analytics Press.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Knaflic, C. N. (2015). </a:t>
            </a:r>
            <a:r>
              <a:rPr lang="en-US" sz="13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Storytelling with Data.</a:t>
            </a: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Wiley.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795" y="6942892"/>
            <a:ext cx="1142880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Salma Babiker  | April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932</Words>
  <Application>Microsoft Macintosh PowerPoint</Application>
  <PresentationFormat>Custom</PresentationFormat>
  <Paragraphs>164</Paragraphs>
  <Slides>9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Libre Baskerville</vt:lpstr>
      <vt:lpstr>-apple-system, BlinkMacSystemFont, Segoe UI, Roboto, Helvetica Neue, Arial, sans-serif Medium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Salma Babiker</cp:lastModifiedBy>
  <cp:revision>6</cp:revision>
  <dcterms:created xsi:type="dcterms:W3CDTF">2026-04-05T23:16:12Z</dcterms:created>
  <dcterms:modified xsi:type="dcterms:W3CDTF">2026-09-16T14:18:15Z</dcterms:modified>
</cp:coreProperties>
</file>